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9E137E-60E8-439D-83A6-1E9604C16C7C}" v="90" dt="2026-10-28T06:20:07.2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1024128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5400" b="1">
                <a:solidFill>
                  <a:srgbClr val="0284C7"/>
                </a:solidFill>
                <a:latin typeface="Segoe UI"/>
              </a:defRPr>
            </a:pPr>
            <a:r>
              <a:t>StockPulse</a:t>
            </a:r>
          </a:p>
          <a:p>
            <a:pPr algn="l">
              <a:spcBef>
                <a:spcPts val="600"/>
              </a:spcBef>
              <a:defRPr sz="2400" b="1">
                <a:solidFill>
                  <a:srgbClr val="0F172A"/>
                </a:solidFill>
                <a:latin typeface="Segoe UI"/>
              </a:defRPr>
            </a:pPr>
            <a:r>
              <a:t>Cloud-Native Inventory &amp; Stock Management Platform</a:t>
            </a:r>
          </a:p>
          <a:p>
            <a:pPr algn="l">
              <a:spcBef>
                <a:spcPts val="1400"/>
              </a:spcBef>
              <a:defRPr sz="1500" b="0">
                <a:solidFill>
                  <a:srgbClr val="64748B"/>
                </a:solidFill>
                <a:latin typeface="Segoe UI"/>
              </a:defRPr>
            </a:pPr>
            <a:r>
              <a:t>DevOps Final Capstone - every page shows what we did and the screenshot that proves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4114800"/>
            <a:ext cx="10241280" cy="17373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25880" y="4434840"/>
            <a:ext cx="4754880" cy="394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Segoe UI"/>
              </a:defRPr>
            </a:pPr>
            <a:r>
              <a:t>STUDENT</a:t>
            </a:r>
          </a:p>
          <a:p>
            <a:pPr algn="l">
              <a:spcBef>
                <a:spcPts val="200"/>
              </a:spcBef>
              <a:defRPr sz="1400" b="1">
                <a:solidFill>
                  <a:srgbClr val="0F172A"/>
                </a:solidFill>
                <a:latin typeface="Segoe UI"/>
              </a:defRPr>
            </a:pPr>
            <a:r>
              <a:t>Kapil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4434840"/>
            <a:ext cx="47548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Segoe UI"/>
              </a:defRPr>
            </a:pPr>
            <a:r>
              <a:t>REPOSITORY</a:t>
            </a:r>
          </a:p>
          <a:p>
            <a:pPr algn="l">
              <a:spcBef>
                <a:spcPts val="200"/>
              </a:spcBef>
              <a:defRPr sz="1400" b="1">
                <a:solidFill>
                  <a:srgbClr val="0F172A"/>
                </a:solidFill>
                <a:latin typeface="Segoe UI"/>
              </a:defRPr>
            </a:pPr>
            <a:r>
              <a:t>github.com/Kapil564/dev-ops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5093207"/>
            <a:ext cx="47548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Segoe UI"/>
              </a:defRPr>
            </a:pPr>
            <a:r>
              <a:t>CLOUD REGION</a:t>
            </a:r>
          </a:p>
          <a:p>
            <a:pPr algn="l">
              <a:spcBef>
                <a:spcPts val="200"/>
              </a:spcBef>
              <a:defRPr sz="1400" b="1">
                <a:solidFill>
                  <a:srgbClr val="0F172A"/>
                </a:solidFill>
                <a:latin typeface="Segoe UI"/>
              </a:defRPr>
            </a:pPr>
            <a:r>
              <a:t>AWS us-east-1 (N. Virginia)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5093207"/>
            <a:ext cx="47548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Segoe UI"/>
              </a:defRPr>
            </a:pPr>
            <a:r>
              <a:t>RESULT</a:t>
            </a:r>
          </a:p>
          <a:p>
            <a:pPr algn="l">
              <a:spcBef>
                <a:spcPts val="200"/>
              </a:spcBef>
              <a:defRPr sz="1400" b="1">
                <a:solidFill>
                  <a:srgbClr val="0F172A"/>
                </a:solidFill>
                <a:latin typeface="Segoe UI"/>
              </a:defRPr>
            </a:pPr>
            <a:r>
              <a:t>100 / 100 points (Modules M1-M10)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172200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Stack: React 18 | FastAPI | PostgreSQL | Docker | GitHub Actions | Trivy | Terraform | AWS EKS | Helm | Prometheus + Grafana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Segoe UI"/>
              </a:defRPr>
            </a:pPr>
            <a:r>
              <a:t>MODULE M1 - APPLICATION (10 POINTS)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109270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Segoe UI"/>
              </a:defRPr>
            </a:pPr>
            <a:r>
              <a:t>The web app our users see (React frontend)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81328"/>
            <a:ext cx="5257800" cy="47091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73736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1">
                <a:solidFill>
                  <a:srgbClr val="0284C7"/>
                </a:solidFill>
                <a:latin typeface="Segoe UI"/>
              </a:defRPr>
            </a:pPr>
            <a:r>
              <a:t>What we did:</a:t>
            </a:r>
          </a:p>
          <a:p>
            <a:pPr algn="l">
              <a:spcBef>
                <a:spcPts val="9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We built the StockPulse dashboard with React 18 and Vite.</a:t>
            </a:r>
          </a:p>
          <a:p>
            <a:pPr algn="l">
              <a:spcBef>
                <a:spcPts val="9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It shows live KPI cards: total SKUs, low-stock alerts and stock value.</a:t>
            </a:r>
          </a:p>
          <a:p>
            <a:pPr algn="l">
              <a:spcBef>
                <a:spcPts val="9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Users can search, filter by category, add stock and delete items.</a:t>
            </a:r>
          </a:p>
          <a:p>
            <a:pPr algn="l">
              <a:spcBef>
                <a:spcPts val="9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It calls the FastAPI backend over REST and saves data in PostgreSQL.</a:t>
            </a:r>
          </a:p>
          <a:p>
            <a:pPr algn="l">
              <a:spcBef>
                <a:spcPts val="1600"/>
              </a:spcBef>
              <a:defRPr sz="1300" b="1">
                <a:solidFill>
                  <a:srgbClr val="059669"/>
                </a:solidFill>
                <a:latin typeface="Segoe UI"/>
              </a:defRPr>
            </a:pPr>
            <a:r>
              <a:t>How to check it: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0284C7"/>
                </a:solidFill>
                <a:latin typeface="Segoe UI"/>
              </a:defRPr>
            </a:pPr>
            <a:r>
              <a:t>Open in browser -&gt; http://localhost:3000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81328"/>
            <a:ext cx="5394960" cy="47091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60020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059669"/>
                </a:solidFill>
                <a:latin typeface="Segoe UI"/>
              </a:defRPr>
            </a:pPr>
            <a:r>
              <a:t>Screenshot proof:</a:t>
            </a:r>
          </a:p>
        </p:txBody>
      </p:sp>
      <p:pic>
        <p:nvPicPr>
          <p:cNvPr id="11" name="Picture 10" descr="brow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606517"/>
            <a:ext cx="5029200" cy="23307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Segoe UI"/>
              </a:defRPr>
            </a:pPr>
            <a:r>
              <a:t>MODULE M1 - BACKEND API &amp;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109270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Segoe UI"/>
              </a:defRPr>
            </a:pPr>
            <a:r>
              <a:t>The backend API and its documentation (FastAPI)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81328"/>
            <a:ext cx="5257800" cy="47091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73736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1">
                <a:solidFill>
                  <a:srgbClr val="0284C7"/>
                </a:solidFill>
                <a:latin typeface="Segoe UI"/>
              </a:defRPr>
            </a:pPr>
            <a:r>
              <a:t>What we did:</a:t>
            </a:r>
          </a:p>
          <a:p>
            <a:pPr algn="l">
              <a:spcBef>
                <a:spcPts val="9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We wrote the REST API with FastAPI and SQLAlchemy 2.0.</a:t>
            </a:r>
          </a:p>
          <a:p>
            <a:pPr algn="l">
              <a:spcBef>
                <a:spcPts val="9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Full CRUD for inventory: GET, POST, PUT, DELETE plus a /stats summary.</a:t>
            </a:r>
          </a:p>
          <a:p>
            <a:pPr algn="l">
              <a:spcBef>
                <a:spcPts val="9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Health probes /health and /ready, and a /metrics endpoint for monitoring.</a:t>
            </a:r>
          </a:p>
          <a:p>
            <a:pPr algn="l">
              <a:spcBef>
                <a:spcPts val="9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Database tables are created by Alembic migrations, not by hand.</a:t>
            </a:r>
          </a:p>
          <a:p>
            <a:pPr algn="l">
              <a:spcBef>
                <a:spcPts val="1600"/>
              </a:spcBef>
              <a:defRPr sz="1300" b="1">
                <a:solidFill>
                  <a:srgbClr val="059669"/>
                </a:solidFill>
                <a:latin typeface="Segoe UI"/>
              </a:defRPr>
            </a:pPr>
            <a:r>
              <a:t>How to check it: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0284C7"/>
                </a:solidFill>
                <a:latin typeface="Segoe UI"/>
              </a:defRPr>
            </a:pPr>
            <a:r>
              <a:t>Interactive docs -&gt; http://localhost:8000/docs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81328"/>
            <a:ext cx="5394960" cy="47091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60020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059669"/>
                </a:solidFill>
                <a:latin typeface="Segoe UI"/>
              </a:defRPr>
            </a:pPr>
            <a:r>
              <a:t>Screenshot proof:</a:t>
            </a:r>
          </a:p>
        </p:txBody>
      </p:sp>
      <p:pic>
        <p:nvPicPr>
          <p:cNvPr id="11" name="Picture 10" descr="browser-d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696117"/>
            <a:ext cx="5029200" cy="21515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Segoe UI"/>
              </a:defRPr>
            </a:pPr>
            <a:r>
              <a:t>MODULE M2 - TESTING (10 POINTS)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109270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Segoe UI"/>
              </a:defRPr>
            </a:pPr>
            <a:r>
              <a:t>Automated tests, all passing (Pytest)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81328"/>
            <a:ext cx="5257800" cy="47091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73736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1">
                <a:solidFill>
                  <a:srgbClr val="0284C7"/>
                </a:solidFill>
                <a:latin typeface="Segoe UI"/>
              </a:defRPr>
            </a:pPr>
            <a:r>
              <a:t>What we did:</a:t>
            </a:r>
          </a:p>
          <a:p>
            <a:pPr algn="l">
              <a:spcBef>
                <a:spcPts val="9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We wrote 8 tests covering health, CRUD, stock updates and stats.</a:t>
            </a:r>
          </a:p>
          <a:p>
            <a:pPr algn="l">
              <a:spcBef>
                <a:spcPts val="9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They run against a temporary in-memory database, never real data.</a:t>
            </a:r>
          </a:p>
          <a:p>
            <a:pPr algn="l">
              <a:spcBef>
                <a:spcPts val="9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The suite runs in under 2 seconds, so it is a fast quality gate.</a:t>
            </a:r>
          </a:p>
          <a:p>
            <a:pPr algn="l">
              <a:spcBef>
                <a:spcPts val="9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The same tests run inside the CI pipeline on every push.</a:t>
            </a:r>
          </a:p>
          <a:p>
            <a:pPr algn="l">
              <a:spcBef>
                <a:spcPts val="1600"/>
              </a:spcBef>
              <a:defRPr sz="1300" b="1">
                <a:solidFill>
                  <a:srgbClr val="059669"/>
                </a:solidFill>
                <a:latin typeface="Segoe UI"/>
              </a:defRPr>
            </a:pPr>
            <a:r>
              <a:t>How to check it: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0284C7"/>
                </a:solidFill>
                <a:latin typeface="Segoe UI"/>
              </a:defRPr>
            </a:pPr>
            <a:r>
              <a:t>pytest -v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81328"/>
            <a:ext cx="5394960" cy="47091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60020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059669"/>
                </a:solidFill>
                <a:latin typeface="Segoe UI"/>
              </a:defRPr>
            </a:pPr>
            <a:r>
              <a:t>Screenshot proof: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663661"/>
            <a:ext cx="5029200" cy="22164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Segoe UI"/>
              </a:defRPr>
            </a:pPr>
            <a:r>
              <a:t>MODULE M3 - GIT &amp; GITHUB (5 POINTS)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109270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Segoe UI"/>
              </a:defRPr>
            </a:pPr>
            <a:r>
              <a:t>Version control history on GitHub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81328"/>
            <a:ext cx="5257800" cy="47091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73736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1">
                <a:solidFill>
                  <a:srgbClr val="0284C7"/>
                </a:solidFill>
                <a:latin typeface="Segoe UI"/>
              </a:defRPr>
            </a:pPr>
            <a:r>
              <a:t>What we did:</a:t>
            </a:r>
          </a:p>
          <a:p>
            <a:pPr algn="l">
              <a:spcBef>
                <a:spcPts val="9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The project lives in a public GitHub repository.</a:t>
            </a:r>
          </a:p>
          <a:p>
            <a:pPr algn="l">
              <a:spcBef>
                <a:spcPts val="9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Over 15 small, clearly named commits instead of one big dump.</a:t>
            </a:r>
          </a:p>
          <a:p>
            <a:pPr algn="l">
              <a:spcBef>
                <a:spcPts val="9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A strict .gitignore keeps secrets, .env files and caches out of git.</a:t>
            </a:r>
          </a:p>
          <a:p>
            <a:pPr algn="l">
              <a:spcBef>
                <a:spcPts val="9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No credentials are stored anywhere in the commit history.</a:t>
            </a:r>
          </a:p>
          <a:p>
            <a:pPr algn="l">
              <a:spcBef>
                <a:spcPts val="1600"/>
              </a:spcBef>
              <a:defRPr sz="1300" b="1">
                <a:solidFill>
                  <a:srgbClr val="059669"/>
                </a:solidFill>
                <a:latin typeface="Segoe UI"/>
              </a:defRPr>
            </a:pPr>
            <a:r>
              <a:t>How to check it: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0284C7"/>
                </a:solidFill>
                <a:latin typeface="Segoe UI"/>
              </a:defRPr>
            </a:pPr>
            <a:r>
              <a:t>git log --oneline -n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81328"/>
            <a:ext cx="5394960" cy="47091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60020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059669"/>
                </a:solidFill>
                <a:latin typeface="Segoe UI"/>
              </a:defRPr>
            </a:pPr>
            <a:r>
              <a:t>Screenshot proof:</a:t>
            </a:r>
          </a:p>
        </p:txBody>
      </p:sp>
      <p:pic>
        <p:nvPicPr>
          <p:cNvPr id="11" name="Picture 10" descr="comm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290041"/>
            <a:ext cx="5029200" cy="29637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Segoe UI"/>
              </a:defRPr>
            </a:pPr>
            <a:r>
              <a:t>MODULE M4 - DOCKER (10 POINTS)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109270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Segoe UI"/>
              </a:defRPr>
            </a:pPr>
            <a:r>
              <a:t>Everything runs in containers with one command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27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1">
                <a:solidFill>
                  <a:srgbClr val="0284C7"/>
                </a:solidFill>
                <a:latin typeface="Segoe UI"/>
              </a:defRPr>
            </a:pPr>
            <a:r>
              <a:t>What we did: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55648"/>
            <a:ext cx="53949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Backend image: python:3.12-slim, running as a non-root user.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Frontend image: multi-stage build (Node builds, Nginx serves).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755648"/>
            <a:ext cx="53949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Docker Compose starts frontend, backend and PostgreSQL together.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One command brings the whole stack up on a private network.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2834640"/>
            <a:ext cx="10058400" cy="33375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3748928"/>
            <a:ext cx="9601200" cy="150898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Segoe UI"/>
              </a:defRPr>
            </a:pPr>
            <a:r>
              <a:t>MODULES M5 &amp; M6 - CI/CD &amp; SECURITY (20 POINTS)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109270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Segoe UI"/>
              </a:defRPr>
            </a:pPr>
            <a:r>
              <a:t>Automated pipeline and security scan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81328"/>
            <a:ext cx="5257800" cy="47091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73736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1">
                <a:solidFill>
                  <a:srgbClr val="0284C7"/>
                </a:solidFill>
                <a:latin typeface="Segoe UI"/>
              </a:defRPr>
            </a:pPr>
            <a:r>
              <a:t>What we did:</a:t>
            </a:r>
          </a:p>
          <a:p>
            <a:pPr algn="l">
              <a:spcBef>
                <a:spcPts val="9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GitHub Actions runs automatically on every push to main.</a:t>
            </a:r>
          </a:p>
          <a:p>
            <a:pPr algn="l">
              <a:spcBef>
                <a:spcPts val="9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It runs the tests and builds the frontend before building images.</a:t>
            </a:r>
          </a:p>
          <a:p>
            <a:pPr algn="l">
              <a:spcBef>
                <a:spcPts val="9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Trivy scans both images and fails the build on HIGH/CRITICAL CVEs.</a:t>
            </a:r>
          </a:p>
          <a:p>
            <a:pPr algn="l">
              <a:spcBef>
                <a:spcPts val="9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Verified images are pushed to GHCR tagged with the commit SHA.</a:t>
            </a:r>
          </a:p>
          <a:p>
            <a:pPr algn="l">
              <a:spcBef>
                <a:spcPts val="1600"/>
              </a:spcBef>
              <a:defRPr sz="1300" b="1">
                <a:solidFill>
                  <a:srgbClr val="059669"/>
                </a:solidFill>
                <a:latin typeface="Segoe UI"/>
              </a:defRPr>
            </a:pPr>
            <a:r>
              <a:t>How to check it: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0284C7"/>
                </a:solidFill>
                <a:latin typeface="Segoe UI"/>
              </a:defRPr>
            </a:pPr>
            <a:r>
              <a:t>.github/workflows/ci-cd.yml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81328"/>
            <a:ext cx="5394960" cy="47091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60020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059669"/>
                </a:solidFill>
                <a:latin typeface="Segoe UI"/>
              </a:defRPr>
            </a:pPr>
            <a:r>
              <a:t>Screenshot proof: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288748"/>
            <a:ext cx="5029200" cy="29663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Segoe UI"/>
              </a:defRPr>
            </a:pPr>
            <a:r>
              <a:t>MODULE M7 - TERRAFORM ON AWS (15 POINTS)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92608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200" b="1">
                <a:solidFill>
                  <a:srgbClr val="059669"/>
                </a:solidFill>
                <a:latin typeface="Segoe UI"/>
              </a:defRPr>
            </a:pPr>
            <a:r>
              <a:t>Provisioned &amp; destroyed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109270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Segoe UI"/>
              </a:defRPr>
            </a:pPr>
            <a:r>
              <a:t>Cloud infrastructure created from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81328"/>
            <a:ext cx="5257800" cy="47091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73736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1">
                <a:solidFill>
                  <a:srgbClr val="0284C7"/>
                </a:solidFill>
                <a:latin typeface="Segoe UI"/>
              </a:defRPr>
            </a:pPr>
            <a:r>
              <a:t>What we did:</a:t>
            </a:r>
          </a:p>
          <a:p>
            <a:pPr algn="l">
              <a:spcBef>
                <a:spcPts val="9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Terraform builds a VPC with public and private subnets on AWS.</a:t>
            </a:r>
          </a:p>
          <a:p>
            <a:pPr algn="l">
              <a:spcBef>
                <a:spcPts val="9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It creates an EKS Kubernetes cluster (v1.31) with 2 worker nodes.</a:t>
            </a:r>
          </a:p>
          <a:p>
            <a:pPr algn="l">
              <a:spcBef>
                <a:spcPts val="9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Everything is written as code, so it can be rebuilt identically.</a:t>
            </a:r>
          </a:p>
          <a:p>
            <a:pPr algn="l">
              <a:spcBef>
                <a:spcPts val="9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We ran terraform destroy to remove all 52 resources and avoid cost.</a:t>
            </a:r>
          </a:p>
          <a:p>
            <a:pPr algn="l">
              <a:spcBef>
                <a:spcPts val="1600"/>
              </a:spcBef>
              <a:defRPr sz="1300" b="1">
                <a:solidFill>
                  <a:srgbClr val="059669"/>
                </a:solidFill>
                <a:latin typeface="Segoe UI"/>
              </a:defRPr>
            </a:pPr>
            <a:r>
              <a:t>How to check it: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0284C7"/>
                </a:solidFill>
                <a:latin typeface="Segoe UI"/>
              </a:defRPr>
            </a:pPr>
            <a:r>
              <a:t>terraform apply -auto-approve / terraform destroy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81328"/>
            <a:ext cx="5394960" cy="47091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60020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059669"/>
                </a:solidFill>
                <a:latin typeface="Segoe UI"/>
              </a:defRPr>
            </a:pPr>
            <a:r>
              <a:t>Screenshot proof: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741280"/>
            <a:ext cx="5029200" cy="206123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6309360"/>
            <a:ext cx="10927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screenshot/terraform/image.png - Terraform creating the AWS EKS cluster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Segoe UI"/>
              </a:defRPr>
            </a:pPr>
            <a:r>
              <a:t>MODULE M8 - KUBERNETES &amp; HELM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109270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Segoe UI"/>
              </a:defRPr>
            </a:pPr>
            <a:r>
              <a:t>The app deployed to Kubernetes with Helm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27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1">
                <a:solidFill>
                  <a:srgbClr val="0284C7"/>
                </a:solidFill>
                <a:latin typeface="Segoe UI"/>
              </a:defRPr>
            </a:pPr>
            <a:r>
              <a:t>What we did: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55648"/>
            <a:ext cx="53949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The whole app is packaged as a reusable Helm chart.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Pods, services and settings live in values.yaml, easy to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755648"/>
            <a:ext cx="53949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ClusterIP services connect frontend, backend and PostgreSQL.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A Horizontal Pod Autoscaler can scale pods as traffic grows.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2834640"/>
            <a:ext cx="10058400" cy="33375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ervice&amp;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3804303"/>
            <a:ext cx="9601200" cy="13982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Segoe UI"/>
              </a:defRPr>
            </a:pPr>
            <a:r>
              <a:t>MODULE M8 - KUBERNETES WORKLOADS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109270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Segoe UI"/>
              </a:defRPr>
            </a:pPr>
            <a:r>
              <a:t>Pods running on the cluster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27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1">
                <a:solidFill>
                  <a:srgbClr val="0284C7"/>
                </a:solidFill>
                <a:latin typeface="Segoe UI"/>
              </a:defRPr>
            </a:pPr>
            <a:r>
              <a:t>What we did: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55648"/>
            <a:ext cx="53949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Two backend pods, two frontend pods and one PostgreSQL pod.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Liveness and readiness probes keep only healthy pods in rotation.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755648"/>
            <a:ext cx="53949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This is the proof that the Helm deployment actually started.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All pods report the Running state across the cluster nodes.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2834640"/>
            <a:ext cx="10058400" cy="33375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3327582"/>
            <a:ext cx="9601200" cy="23516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Segoe UI"/>
              </a:defRPr>
            </a:pPr>
            <a:r>
              <a:t>MODULE M9 - MONITORING (10 POINTS)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109270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Segoe UI"/>
              </a:defRPr>
            </a:pPr>
            <a:r>
              <a:t>Prometheus is watching the 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81328"/>
            <a:ext cx="5257800" cy="47091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73736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1">
                <a:solidFill>
                  <a:srgbClr val="0284C7"/>
                </a:solidFill>
                <a:latin typeface="Segoe UI"/>
              </a:defRPr>
            </a:pPr>
            <a:r>
              <a:t>What we did:</a:t>
            </a:r>
          </a:p>
          <a:p>
            <a:pPr algn="l">
              <a:spcBef>
                <a:spcPts val="9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We installed the kube-prometheus-stack into a monitoring namespace.</a:t>
            </a:r>
          </a:p>
          <a:p>
            <a:pPr algn="l">
              <a:spcBef>
                <a:spcPts val="9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Prometheus scrapes the backend /metrics endpoint automatically.</a:t>
            </a:r>
          </a:p>
          <a:p>
            <a:pPr algn="l">
              <a:spcBef>
                <a:spcPts val="9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The targets page confirms the app is being scraped successfully.</a:t>
            </a:r>
          </a:p>
          <a:p>
            <a:pPr algn="l">
              <a:spcBef>
                <a:spcPts val="9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This gives us live visibility into traffic and errors.</a:t>
            </a:r>
          </a:p>
          <a:p>
            <a:pPr algn="l">
              <a:spcBef>
                <a:spcPts val="1600"/>
              </a:spcBef>
              <a:defRPr sz="1300" b="1">
                <a:solidFill>
                  <a:srgbClr val="059669"/>
                </a:solidFill>
                <a:latin typeface="Segoe UI"/>
              </a:defRPr>
            </a:pPr>
            <a:r>
              <a:t>How to check it: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0284C7"/>
                </a:solidFill>
                <a:latin typeface="Segoe UI"/>
              </a:defRPr>
            </a:pPr>
            <a:r>
              <a:t>kubectl port-forward svc/monitoring-kube-prometheus-prometheus 9090:9090 -n monitoring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81328"/>
            <a:ext cx="5394960" cy="47091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60020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059669"/>
                </a:solidFill>
                <a:latin typeface="Segoe UI"/>
              </a:defRPr>
            </a:pPr>
            <a:r>
              <a:t>Screenshot proof:</a:t>
            </a:r>
          </a:p>
        </p:txBody>
      </p:sp>
      <p:pic>
        <p:nvPicPr>
          <p:cNvPr id="11" name="Picture 10" descr="pr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614518"/>
            <a:ext cx="5029200" cy="23147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Segoe UI"/>
              </a:defRPr>
            </a:pPr>
            <a:r>
              <a:t>MODULE M9 - APPLICATION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109270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Segoe UI"/>
              </a:defRPr>
            </a:pPr>
            <a:r>
              <a:t>The metrics the app exposes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27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1">
                <a:solidFill>
                  <a:srgbClr val="0284C7"/>
                </a:solidFill>
                <a:latin typeface="Segoe UI"/>
              </a:defRPr>
            </a:pPr>
            <a:r>
              <a:t>What we did: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55648"/>
            <a:ext cx="53949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The backend exports Prometheus metrics at /metrics.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It counts requests (http_requests_total) and measures latency.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755648"/>
            <a:ext cx="53949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Grafana dashboards turn these numbers into live charts.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This is the data behind our dashboards and alerts.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2834640"/>
            <a:ext cx="10058400" cy="33375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3244042"/>
            <a:ext cx="9601200" cy="25187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Segoe UI"/>
              </a:defRPr>
            </a:pPr>
            <a:r>
              <a:t>FINAL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10927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Segoe UI"/>
              </a:defRPr>
            </a:pPr>
            <a:r>
              <a:t>Everything we built - module by module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927080" cy="512064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536192"/>
            <a:ext cx="169164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Segoe UI"/>
              </a:defRPr>
            </a:pPr>
            <a:r>
              <a:t>M1 </a:t>
            </a:r>
          </a:p>
          <a:p>
            <a:pPr>
              <a:defRPr sz="1200" b="1">
                <a:solidFill>
                  <a:srgbClr val="0284C7"/>
                </a:solidFill>
                <a:latin typeface="Segoe UI"/>
              </a:defRPr>
            </a:pPr>
            <a:endParaRPr lang="en-US" dirty="0">
              <a:cs typeface="Segoe U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51760" y="1536192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Segoe UI"/>
              </a:defRPr>
            </a:pPr>
            <a:r>
              <a:t>Full-stack app: React dashboard + FastAPI API + PostgreSQL tables and migrations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1536192"/>
            <a:ext cx="1143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Slide 2-3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048256"/>
            <a:ext cx="16916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Segoe UI"/>
              </a:defRPr>
            </a:pPr>
            <a:r>
              <a:t>M2 </a:t>
            </a:r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2651760" y="2048256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Segoe UI"/>
              </a:defRPr>
            </a:pPr>
            <a:r>
              <a:t>8 automated Pytest tests, all passing, using an isolated test 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78440" y="2048256"/>
            <a:ext cx="1143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Slide 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441448"/>
            <a:ext cx="10927080" cy="512064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560320"/>
            <a:ext cx="16916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Segoe UI"/>
              </a:defRPr>
            </a:pPr>
            <a:r>
              <a:t>M3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560320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Segoe UI"/>
              </a:defRPr>
            </a:pPr>
            <a:r>
              <a:t>Public GitHub repository with clean, structured commit history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78440" y="2560320"/>
            <a:ext cx="1143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Slide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072384"/>
            <a:ext cx="16916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Segoe UI"/>
              </a:defRPr>
            </a:pPr>
            <a:r>
              <a:t>M4</a:t>
            </a:r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2651760" y="3072384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Segoe UI"/>
              </a:defRPr>
            </a:pPr>
            <a:r>
              <a:t>Multi-stage Dockerfiles (non-root) and one-command Docker Compose stack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78440" y="3072384"/>
            <a:ext cx="1143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Slide 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65576"/>
            <a:ext cx="10927080" cy="512064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3542695"/>
            <a:ext cx="16916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Segoe UI"/>
              </a:defRPr>
            </a:pPr>
            <a:r>
              <a:t>M5+M6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3584448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Segoe UI"/>
              </a:defRPr>
            </a:pPr>
            <a:r>
              <a:t>GitHub Actions CI/CD with Trivy security scan and GHCR image push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78440" y="3584448"/>
            <a:ext cx="1143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Slide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096512"/>
            <a:ext cx="16916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Segoe UI"/>
              </a:defRPr>
            </a:pPr>
            <a:r>
              <a:t>M7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4096512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Segoe UI"/>
              </a:defRPr>
            </a:pPr>
            <a:r>
              <a:t>Terraform provisions AWS VPC + EKS in us-east-1, then destroys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78440" y="4096512"/>
            <a:ext cx="1143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Slide 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489704"/>
            <a:ext cx="10927080" cy="512064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4608576"/>
            <a:ext cx="16916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Segoe UI"/>
              </a:defRPr>
            </a:pPr>
            <a:r>
              <a:t>M8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1760" y="4608576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Segoe UI"/>
              </a:defRPr>
            </a:pPr>
            <a:r>
              <a:t>Helm chart deploy on Kubernetes with replicas, services and autoscaling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78440" y="4608576"/>
            <a:ext cx="1143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Slide 9-10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120640"/>
            <a:ext cx="16916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Segoe UI"/>
              </a:defRPr>
            </a:pPr>
            <a:r>
              <a:t>M9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51760" y="5120640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Segoe UI"/>
              </a:defRPr>
            </a:pPr>
            <a:r>
              <a:t>Prometheus scrapes the app metrics, Grafana visualises them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78440" y="5120640"/>
            <a:ext cx="1143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Slide 11-12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513832"/>
            <a:ext cx="10927080" cy="512064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8680" y="5632704"/>
            <a:ext cx="16916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Segoe UI"/>
              </a:defRPr>
            </a:pPr>
            <a:r>
              <a:t>M10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51760" y="5632704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Segoe UI"/>
              </a:defRPr>
            </a:pPr>
            <a:r>
              <a:t>README documentation and this presentation with screenshot proof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78440" y="5632704"/>
            <a:ext cx="1143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This 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22</cp:revision>
  <dcterms:created xsi:type="dcterms:W3CDTF">2013-01-27T09:14:16Z</dcterms:created>
  <dcterms:modified xsi:type="dcterms:W3CDTF">2026-10-28T06:20:08Z</dcterms:modified>
  <cp:category/>
</cp:coreProperties>
</file>